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6256000" cy="9144000"/>
  <p:notesSz cx="9144000" cy="16256000"/>
  <p:embeddedFontLst>
    <p:embeddedFont>
      <p:font typeface="Quattrocento Sans" charset="-122" pitchFamily="34"/>
      <p:regular r:id="rId2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font" Target="fonts/font1.fntdata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MAPE (%)</c:v>
                </c:pt>
              </c:strCache>
            </c:strRef>
          </c:tx>
          <c:spPr>
            <a:solidFill>
              <a:srgbClr val="6B1C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Persistence</c:v>
                  </c:pt>
                  <c:pt idx="1">
                    <c:v>LSTM</c:v>
                  </c:pt>
                  <c:pt idx="2">
                    <c:v>Phase 1 (h=64)</c:v>
                  </c:pt>
                  <c:pt idx="3">
                    <c:v>Phase 1 (best HP)</c:v>
                  </c:pt>
                  <c:pt idx="4">
                    <c:v>Phase 2 (optimized)</c:v>
                  </c:pt>
                  <c:pt idx="5">
                    <c:v>Paper Target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66.07</c:v>
                </c:pt>
                <c:pt idx="1">
                  <c:v>75.64</c:v>
                </c:pt>
                <c:pt idx="2">
                  <c:v>35.66</c:v>
                </c:pt>
                <c:pt idx="3">
                  <c:v>33.98</c:v>
                </c:pt>
                <c:pt idx="4">
                  <c:v>32.41</c:v>
                </c:pt>
                <c:pt idx="5">
                  <c:v>31.82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12700" cap="flat">
              <a:solidFill>
                <a:srgbClr val="e0ddd8"/>
              </a:solidFill>
              <a:prstDash val="dash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MAPE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2yg3rinidskmu/mnt/agents/output/lpe-stgtn-presentation/images/1_New_York_City_Skyline_Night_Images.png">    </p:cNvPr>
          <p:cNvPicPr>
            <a:picLocks noChangeAspect="1"/>
          </p:cNvPicPr>
          <p:nvPr/>
        </p:nvPicPr>
        <p:blipFill>
          <a:blip r:embed="rId1"/>
          <a:srcRect l="0" r="0" t="156" b="156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A1A2E">
                  <a:alpha val="94000"/>
                </a:srgbClr>
              </a:gs>
              <a:gs pos="55000">
                <a:srgbClr val="1A1A2E">
                  <a:alpha val="80000"/>
                </a:srgbClr>
              </a:gs>
              <a:gs pos="100000">
                <a:srgbClr val="1A1A2E">
                  <a:alpha val="4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540000"/>
            <a:ext cx="889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4000" b="1" spc="2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LPE-STGTN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2800" spc="2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Reproduction &amp; Optimization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016000" y="4318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Ride-Hailing Demand Forecasting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016000" y="5080000"/>
            <a:ext cx="1524000" cy="0"/>
          </a:xfrm>
          <a:prstGeom prst="straightConnector1">
            <a:avLst/>
          </a:prstGeom>
          <a:noFill/>
          <a:ln w="38100">
            <a:solidFill>
              <a:srgbClr val="B8860B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1016000" y="5334000"/>
            <a:ext cx="7620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600" b="1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Students: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Alikatte, Hrishikesh Sidharth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b="1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Supervisors: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Pr. Harshavardhan Reddy, Zied Malikireddy, Zhonjie Wu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b="1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Institution: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École Centrale Lyon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b="1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Date: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April 2026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16000" y="7620000"/>
            <a:ext cx="2540000" cy="457200"/>
          </a:xfrm>
          <a:prstGeom prst="roundRect">
            <a:avLst>
              <a:gd name="adj" fmla="val 8000"/>
            </a:avLst>
          </a:prstGeom>
          <a:solidFill>
            <a:srgbClr val="B8860B">
              <a:alpha val="9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016000" y="762000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Learning Project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762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spc="300" kern="0" dirty="0">
                <a:solidFill>
                  <a:srgbClr val="6B1C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OVERVIEW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1524000"/>
            <a:ext cx="1270000" cy="0"/>
          </a:xfrm>
          <a:prstGeom prst="straightConnector1">
            <a:avLst/>
          </a:prstGeom>
          <a:noFill/>
          <a:ln w="38100">
            <a:solidFill>
              <a:srgbClr val="B8860B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762000" y="2159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905000" y="2159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 &amp; Problem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905000" y="26035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B8C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Motivation, paper summary, and contributions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3429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905000" y="3429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Architecture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905000" y="38735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B8C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Dual-pathway design and implementation details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4699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905000" y="4699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Experimental Results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905000" y="51435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B8C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Dataset, setup, and performance comparison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5969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905000" y="5969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Analysis &amp; Conclusion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905000" y="64135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B8C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findings, lessons learned, and future work</a:t>
            </a:r>
            <a:endParaRPr lang="en-US" sz="1600" dirty="0"/>
          </a:p>
        </p:txBody>
      </p:sp>
      <p:pic>
        <p:nvPicPr>
          <p:cNvPr id="16" name="Image 0" descr="https://kimi-img.moonshot.cn/pub/slides/okc/2yg3rinidskmu/mnt/agents/output/lpe-stgtn-presentation/images/5_6_775_Aerial_View_New_York_City_Night.png">    </p:cNvPr>
          <p:cNvPicPr>
            <a:picLocks noChangeAspect="1"/>
          </p:cNvPicPr>
          <p:nvPr/>
        </p:nvPicPr>
        <p:blipFill>
          <a:blip r:embed="rId1"/>
          <a:srcRect l="16625" r="16625" t="0" b="0"/>
          <a:stretch/>
        </p:blipFill>
        <p:spPr>
          <a:xfrm>
            <a:off x="8890000" y="1270000"/>
            <a:ext cx="6604000" cy="6604000"/>
          </a:xfrm>
          <a:prstGeom prst="roundRect">
            <a:avLst>
              <a:gd name="adj" fmla="val 8000"/>
            </a:avLst>
          </a:prstGeom>
        </p:spPr>
      </p:pic>
      <p:sp>
        <p:nvSpPr>
          <p:cNvPr id="17" name="Text 14"/>
          <p:cNvSpPr/>
          <p:nvPr/>
        </p:nvSpPr>
        <p:spPr>
          <a:xfrm>
            <a:off x="762000" y="86360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8B8C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École Centrale Lyon — Deep Learning Project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2yg3rinidskmu/mnt/agents/output/lpe-stgtn-presentation/images/8_New_York_Taxi_Cabs_Aerial_View_Stock.png">    </p:cNvPr>
          <p:cNvPicPr>
            <a:picLocks noChangeAspect="1"/>
          </p:cNvPicPr>
          <p:nvPr/>
        </p:nvPicPr>
        <p:blipFill>
          <a:blip r:embed="rId1"/>
          <a:srcRect l="0" r="0" t="7707" b="7707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A1A2E">
                  <a:alpha val="53000"/>
                </a:srgbClr>
              </a:gs>
              <a:gs pos="50000">
                <a:srgbClr val="1A1A2E">
                  <a:alpha val="80000"/>
                </a:srgbClr>
              </a:gs>
              <a:gs pos="100000">
                <a:srgbClr val="1A1A2E">
                  <a:alpha val="94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286000"/>
            <a:ext cx="3810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0" b="1" dirty="0">
                <a:solidFill>
                  <a:srgbClr val="FFFFFF">
                    <a:alpha val="9412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016000" y="4318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spc="2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 &amp; PROBLEM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016000" y="5207000"/>
            <a:ext cx="1270000" cy="0"/>
          </a:xfrm>
          <a:prstGeom prst="straightConnector1">
            <a:avLst/>
          </a:prstGeom>
          <a:noFill/>
          <a:ln w="38100">
            <a:solidFill>
              <a:srgbClr val="B8860B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1016000" y="5461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Motivation, paper summary, and project contributions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6B1C23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147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Introduction &amp; Problem</a:t>
            </a:r>
            <a:pPr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02 Model Architecture 03 Experimental Results 04 Analysis &amp; Conclusion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635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6B1C2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Motivation &amp; Paper Summary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206500"/>
            <a:ext cx="762000" cy="0"/>
          </a:xfrm>
          <a:prstGeom prst="straightConnector1">
            <a:avLst/>
          </a:prstGeom>
          <a:noFill/>
          <a:ln w="38100">
            <a:solidFill>
              <a:srgbClr val="B8860B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762000" y="1460500"/>
            <a:ext cx="685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6B1C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Motivation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1968500"/>
            <a:ext cx="6858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Accurate spatio-temporal forecasting enables: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Fleet dispatch optimization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Empty cruising reduction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Urban congestion minimization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Classical models treat zones independently. Graph-based deep learning encodes geographic relationships directly into the model.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382000" y="14605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6B1C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Paper Summary: LPE-STGTN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382000" y="1968500"/>
            <a:ext cx="7112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Zhang et al., </a:t>
            </a:r>
            <a:pPr>
              <a:lnSpc>
                <a:spcPct val="150000"/>
              </a:lnSpc>
            </a:pPr>
            <a:r>
              <a:rPr lang="en-US" sz="1800" i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IEEE TITS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2024 — Transformer-based architecture for citywide demand prediction.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Dual-Pathway Design: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 Path: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AFT (W=4) + GCRN for temporal-spatial patterns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Path: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Dual graph convolutions fused via multi-head attention (4 heads)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4826000"/>
            <a:ext cx="14732000" cy="1524000"/>
          </a:xfrm>
          <a:prstGeom prst="roundRect">
            <a:avLst>
              <a:gd name="adj" fmla="val 4000"/>
            </a:avLst>
          </a:prstGeom>
          <a:solidFill>
            <a:srgbClr val="F0EEEB"/>
          </a:solidFill>
          <a:ln/>
        </p:spPr>
      </p:sp>
      <p:sp>
        <p:nvSpPr>
          <p:cNvPr id="11" name="Text 9"/>
          <p:cNvSpPr/>
          <p:nvPr/>
        </p:nvSpPr>
        <p:spPr>
          <a:xfrm>
            <a:off x="1016000" y="4953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8B8C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Original Paper Results (NYC Taxi 2018)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16000" y="53975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5.66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5905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8B8C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064000" y="53975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10.40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064000" y="5905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8B8C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RMSE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112000" y="53975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31.82%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112000" y="5905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8B8C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MAPE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414000" y="5397500"/>
            <a:ext cx="482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8B8C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68 zones | 15-min resolution | 12-step horizon | L1 loss | Adam lr 10⁻³ | h=64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2000" y="8763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8B8C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École Centrale Lyon — Deep Learning Project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970000" y="8763000"/>
            <a:ext cx="15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8B8C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/ 16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6B1C23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147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Introduction &amp; Problem</a:t>
            </a:r>
            <a:pPr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02 Model Architecture 03 Experimental Results 04 Analysis &amp; Conclusion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635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6B1C2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Problem Definition &amp; Our Contributions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206500"/>
            <a:ext cx="762000" cy="0"/>
          </a:xfrm>
          <a:prstGeom prst="straightConnector1">
            <a:avLst/>
          </a:prstGeom>
          <a:noFill/>
          <a:ln w="38100">
            <a:solidFill>
              <a:srgbClr val="B8860B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762000" y="14605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6B1C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Definition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1968500"/>
            <a:ext cx="147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Given urban graph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 = (V, E)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zones and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historical steps, predict next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 = 12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steps (3 hours ahead).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Input: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(B, T, N)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Output: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(B, P, N)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31115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6B1C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Our Contributions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3683000"/>
            <a:ext cx="50800" cy="107950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1016000" y="3683000"/>
            <a:ext cx="6604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Faithful Reimplementation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End-to-end LPE-STGTN in PyTorch, from raw data ingestion through graph construction to full GPU training.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4953000"/>
            <a:ext cx="50800" cy="107950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2" name="Text 10"/>
          <p:cNvSpPr/>
          <p:nvPr/>
        </p:nvSpPr>
        <p:spPr>
          <a:xfrm>
            <a:off x="1016000" y="4953000"/>
            <a:ext cx="6604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Geographic Anomaly Resolution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Removed TLC Zone 104 (Governor's Island), which injected ~3,860 ft of phantom distance into the adjacency matrix.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382000" y="3683000"/>
            <a:ext cx="50800" cy="107950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4" name="Text 12"/>
          <p:cNvSpPr/>
          <p:nvPr/>
        </p:nvSpPr>
        <p:spPr>
          <a:xfrm>
            <a:off x="8636000" y="3683000"/>
            <a:ext cx="6858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Extensive Ablation Studies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Covered capacity, dropout, ε-sparsification, weather features, and chronological split sensitivity.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382000" y="4953000"/>
            <a:ext cx="50800" cy="107950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6" name="Text 14"/>
          <p:cNvSpPr/>
          <p:nvPr/>
        </p:nvSpPr>
        <p:spPr>
          <a:xfrm>
            <a:off x="8636000" y="4953000"/>
            <a:ext cx="6858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Hyperparameter Optimization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 test MAPE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32.41%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closing gap to paper target from 3.84 pp to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0.59 pp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6350000"/>
            <a:ext cx="14732000" cy="1778000"/>
          </a:xfrm>
          <a:prstGeom prst="roundRect">
            <a:avLst>
              <a:gd name="adj" fmla="val 4000"/>
            </a:avLst>
          </a:prstGeom>
          <a:solidFill>
            <a:srgbClr val="F0EEEB"/>
          </a:solidFill>
          <a:ln/>
        </p:spPr>
      </p:sp>
      <p:sp>
        <p:nvSpPr>
          <p:cNvPr id="18" name="Text 16"/>
          <p:cNvSpPr/>
          <p:nvPr/>
        </p:nvSpPr>
        <p:spPr>
          <a:xfrm>
            <a:off x="1016000" y="6477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8B8C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Achievement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16000" y="6921500"/>
            <a:ext cx="381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400" b="1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32.41%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16000" y="7683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B8C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 Test MAPE (gap: 0.59 pp)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334000" y="7175500"/>
            <a:ext cx="762000" cy="0"/>
          </a:xfrm>
          <a:prstGeom prst="straightConnector1">
            <a:avLst/>
          </a:prstGeom>
          <a:noFill/>
          <a:ln w="25400">
            <a:solidFill>
              <a:srgbClr val="B8860B"/>
            </a:solidFill>
            <a:prstDash val="solid"/>
            <a:headEnd type="none"/>
            <a:tailEnd type="arrow"/>
          </a:ln>
        </p:spPr>
      </p:sp>
      <p:sp>
        <p:nvSpPr>
          <p:cNvPr id="22" name="Text 20"/>
          <p:cNvSpPr/>
          <p:nvPr/>
        </p:nvSpPr>
        <p:spPr>
          <a:xfrm>
            <a:off x="6350000" y="6858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8B8C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35.66%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50000" y="7366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B8C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1 baseline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414000" y="6858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6B1C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31.82%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414000" y="7366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B8C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Original paper target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2000" y="8763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8B8C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École Centrale Lyon — Deep Learning Project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970000" y="8763000"/>
            <a:ext cx="15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8B8C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/ 16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2yg3rinidskmu/mnt/agents/output/lpe-stgtn-presentation/images/4_Abstract_Neural_Network_Web_on_Dark.png">    </p:cNvPr>
          <p:cNvPicPr>
            <a:picLocks noChangeAspect="1"/>
          </p:cNvPicPr>
          <p:nvPr/>
        </p:nvPicPr>
        <p:blipFill>
          <a:blip r:embed="rId1"/>
          <a:srcRect l="0" r="0" t="21875" b="2187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A1A2E">
                  <a:alpha val="53000"/>
                </a:srgbClr>
              </a:gs>
              <a:gs pos="50000">
                <a:srgbClr val="1A1A2E">
                  <a:alpha val="80000"/>
                </a:srgbClr>
              </a:gs>
              <a:gs pos="100000">
                <a:srgbClr val="1A1A2E">
                  <a:alpha val="94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286000"/>
            <a:ext cx="3810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0" b="1" dirty="0">
                <a:solidFill>
                  <a:srgbClr val="FFFFFF">
                    <a:alpha val="9412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016000" y="4318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spc="2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ARCHITECTURE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016000" y="5207000"/>
            <a:ext cx="1270000" cy="0"/>
          </a:xfrm>
          <a:prstGeom prst="straightConnector1">
            <a:avLst/>
          </a:prstGeom>
          <a:noFill/>
          <a:ln w="38100">
            <a:solidFill>
              <a:srgbClr val="B8860B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1016000" y="5461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Dual-pathway design, embedding, and fusion mechanism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6B1C23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147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Introduction &amp; Problem </a:t>
            </a:r>
            <a:pPr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Model Architecture</a:t>
            </a:r>
            <a:pPr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03 Experimental Results 04 Analysis &amp; Conclusion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635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6B1C2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Architecture Overview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206500"/>
            <a:ext cx="762000" cy="0"/>
          </a:xfrm>
          <a:prstGeom prst="straightConnector1">
            <a:avLst/>
          </a:prstGeom>
          <a:noFill/>
          <a:ln w="38100">
            <a:solidFill>
              <a:srgbClr val="B8860B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762000" y="1460500"/>
            <a:ext cx="1778000" cy="558800"/>
          </a:xfrm>
          <a:prstGeom prst="roundRect">
            <a:avLst>
              <a:gd name="adj" fmla="val 8000"/>
            </a:avLst>
          </a:prstGeom>
          <a:solidFill>
            <a:srgbClr val="6B1C23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460500"/>
            <a:ext cx="1778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 (B,T,N)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540000" y="1739900"/>
            <a:ext cx="508000" cy="0"/>
          </a:xfrm>
          <a:prstGeom prst="straightConnector1">
            <a:avLst/>
          </a:prstGeom>
          <a:noFill/>
          <a:ln w="25400">
            <a:solidFill>
              <a:srgbClr val="8B8C8A"/>
            </a:solidFill>
            <a:prstDash val="solid"/>
            <a:headEnd type="none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3048000" y="1460500"/>
            <a:ext cx="2032000" cy="558800"/>
          </a:xfrm>
          <a:prstGeom prst="roundRect">
            <a:avLst>
              <a:gd name="adj" fmla="val 8000"/>
            </a:avLst>
          </a:prstGeom>
          <a:solidFill>
            <a:srgbClr val="F0EEEB"/>
          </a:solidFill>
          <a:ln w="12700">
            <a:solidFill>
              <a:srgbClr val="8B8C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48000" y="146050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Embedding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80000" y="1739900"/>
            <a:ext cx="508000" cy="0"/>
          </a:xfrm>
          <a:prstGeom prst="straightConnector1">
            <a:avLst/>
          </a:prstGeom>
          <a:noFill/>
          <a:ln w="25400">
            <a:solidFill>
              <a:srgbClr val="8B8C8A"/>
            </a:solidFill>
            <a:prstDash val="solid"/>
            <a:headEnd type="none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5588000" y="1460500"/>
            <a:ext cx="1270000" cy="558800"/>
          </a:xfrm>
          <a:prstGeom prst="roundRect">
            <a:avLst>
              <a:gd name="adj" fmla="val 8000"/>
            </a:avLst>
          </a:prstGeom>
          <a:solidFill>
            <a:srgbClr val="F0EEEB"/>
          </a:solidFill>
          <a:ln w="12700">
            <a:solidFill>
              <a:srgbClr val="8B8C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88000" y="1460500"/>
            <a:ext cx="127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Split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96000" y="2019300"/>
            <a:ext cx="0" cy="457200"/>
          </a:xfrm>
          <a:prstGeom prst="straightConnector1">
            <a:avLst/>
          </a:prstGeom>
          <a:noFill/>
          <a:ln w="25400">
            <a:solidFill>
              <a:srgbClr val="8B8C8A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762000" y="2476500"/>
            <a:ext cx="5842000" cy="1270000"/>
          </a:xfrm>
          <a:prstGeom prst="roundRect">
            <a:avLst>
              <a:gd name="adj" fmla="val 4000"/>
            </a:avLst>
          </a:prstGeom>
          <a:solidFill>
            <a:srgbClr val="F0EEEB"/>
          </a:solidFill>
          <a:ln w="25400">
            <a:solidFill>
              <a:srgbClr val="6B1C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9000" y="2540000"/>
            <a:ext cx="558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6B1C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 PERCEPTION PATH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89000" y="2844800"/>
            <a:ext cx="5588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AFT: Attention-Free Transformer, W=4, O(T·W) complexity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GCRN: 1-layer graph convolution with GRU gates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858000" y="2476500"/>
            <a:ext cx="5842000" cy="1270000"/>
          </a:xfrm>
          <a:prstGeom prst="roundRect">
            <a:avLst>
              <a:gd name="adj" fmla="val 4000"/>
            </a:avLst>
          </a:prstGeom>
          <a:solidFill>
            <a:srgbClr val="F0EEEB"/>
          </a:solidFill>
          <a:ln w="25400">
            <a:solidFill>
              <a:srgbClr val="6B1C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85000" y="2540000"/>
            <a:ext cx="558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6B1C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SEMANTIC FUSION PATH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85000" y="2844800"/>
            <a:ext cx="5588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Distance Graph + OD Flow Graph convolutions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Multi-Head Attention Fusion (4 heads)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556000" y="3746500"/>
            <a:ext cx="0" cy="381000"/>
          </a:xfrm>
          <a:prstGeom prst="straightConnector1">
            <a:avLst/>
          </a:prstGeom>
          <a:noFill/>
          <a:ln w="25400">
            <a:solidFill>
              <a:srgbClr val="8B8C8A"/>
            </a:solidFill>
            <a:prstDash val="solid"/>
            <a:headEnd type="none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9652000" y="3746500"/>
            <a:ext cx="0" cy="381000"/>
          </a:xfrm>
          <a:prstGeom prst="straightConnector1">
            <a:avLst/>
          </a:prstGeom>
          <a:noFill/>
          <a:ln w="25400">
            <a:solidFill>
              <a:srgbClr val="8B8C8A"/>
            </a:solidFill>
            <a:prstDash val="solid"/>
            <a:headEnd type="none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4318000" y="4127500"/>
            <a:ext cx="3810000" cy="558800"/>
          </a:xfrm>
          <a:prstGeom prst="roundRect">
            <a:avLst>
              <a:gd name="adj" fmla="val 8000"/>
            </a:avLst>
          </a:prstGeom>
          <a:solidFill>
            <a:srgbClr val="6B1C23"/>
          </a:solidFill>
          <a:ln/>
        </p:spPr>
      </p:sp>
      <p:sp>
        <p:nvSpPr>
          <p:cNvPr id="24" name="Text 22"/>
          <p:cNvSpPr/>
          <p:nvPr/>
        </p:nvSpPr>
        <p:spPr>
          <a:xfrm>
            <a:off x="4318000" y="4127500"/>
            <a:ext cx="381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Fusion &amp; Decoder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128000" y="4406900"/>
            <a:ext cx="508000" cy="0"/>
          </a:xfrm>
          <a:prstGeom prst="straightConnector1">
            <a:avLst/>
          </a:prstGeom>
          <a:noFill/>
          <a:ln w="25400">
            <a:solidFill>
              <a:srgbClr val="8B8C8A"/>
            </a:solidFill>
            <a:prstDash val="solid"/>
            <a:headEnd type="none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8636000" y="4127500"/>
            <a:ext cx="2032000" cy="558800"/>
          </a:xfrm>
          <a:prstGeom prst="roundRect">
            <a:avLst>
              <a:gd name="adj" fmla="val 8000"/>
            </a:avLst>
          </a:prstGeom>
          <a:solidFill>
            <a:srgbClr val="B8860B"/>
          </a:solidFill>
          <a:ln/>
        </p:spPr>
      </p:sp>
      <p:sp>
        <p:nvSpPr>
          <p:cNvPr id="27" name="Text 25"/>
          <p:cNvSpPr/>
          <p:nvPr/>
        </p:nvSpPr>
        <p:spPr>
          <a:xfrm>
            <a:off x="8636000" y="412750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 (B,P,N)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62000" y="50165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6B1C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Spatio-Temporal Embedding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62000" y="5397500"/>
            <a:ext cx="711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Raw demand concatenated with Time-of-Day and Day-of-Week features, projected into latent space of dimension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via linear layer. Cyclical temporal priors incorporated before convolutional extraction.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382000" y="50165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6B1C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Loss &amp; Optimization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382000" y="5397500"/>
            <a:ext cx="711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L1 Loss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(MAE) between predicted and actual demand.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Adam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optimizer with initial lr 10⁻³.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ReduceLROnPlateau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scheduler halves learning rate when validation loss stagnates.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62000" y="6794500"/>
            <a:ext cx="14732000" cy="1016000"/>
          </a:xfrm>
          <a:prstGeom prst="roundRect">
            <a:avLst>
              <a:gd name="adj" fmla="val 4000"/>
            </a:avLst>
          </a:prstGeom>
          <a:solidFill>
            <a:srgbClr val="F0EEEB"/>
          </a:solidFill>
          <a:ln/>
        </p:spPr>
      </p:sp>
      <p:sp>
        <p:nvSpPr>
          <p:cNvPr id="33" name="Text 31"/>
          <p:cNvSpPr/>
          <p:nvPr/>
        </p:nvSpPr>
        <p:spPr>
          <a:xfrm>
            <a:off x="1016000" y="6858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8B8C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AFT Formula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 32"/>
              <p:cNvSpPr/>
              <p:nvPr/>
            </p:nvSpPr>
            <p:spPr>
              <a:xfrm>
                <a:off x="1016000" y="7175500"/>
                <a:ext cx="14224000" cy="508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dirty="0"/>
                          </m:ctrlPr>
                        </m:sSubPr>
                        <m:e>
                          <m:r>
                            <a:rPr lang="en-US" sz="1100" i="1" dirty="0"/>
                            <m:t>Y</m:t>
                          </m:r>
                        </m:e>
                        <m:sub>
                          <m:r>
                            <a:rPr lang="en-US" sz="1100" dirty="0"/>
                            <m:t>AFT</m:t>
                          </m:r>
                        </m:sub>
                      </m:sSub>
                      <m:r>
                        <a:rPr lang="en-US" sz="1600" dirty="0"/>
                        <m:t>=</m:t>
                      </m:r>
                      <m:r>
                        <a:rPr lang="en-US" sz="1600" i="1" dirty="0"/>
                        <m:t>σ</m:t>
                      </m:r>
                      <m:r>
                        <a:rPr lang="en-US" sz="1600" dirty="0"/>
                        <m:t>(</m:t>
                      </m:r>
                      <m:r>
                        <a:rPr lang="en-US" sz="1600" i="1" dirty="0"/>
                        <m:t>Q</m:t>
                      </m:r>
                      <m:r>
                        <a:rPr lang="en-US" sz="1600" dirty="0"/>
                        <m:t>)</m:t>
                      </m:r>
                      <m:r>
                        <a:rPr lang="en-US" sz="1600" dirty="0"/>
                        <m:t>⊙</m:t>
                      </m:r>
                      <m:f>
                        <m:fPr>
                          <m:type m:val="bar"/>
                        </m:fPr>
                        <m:num>
                          <m:sSubSup>
                            <m:sSubSupPr>
                              <m:ctrlPr>
                                <a:rPr lang="en-US" sz="800" dirty="0"/>
                              </m:ctrlPr>
                            </m:sSubSupPr>
                            <m:e>
                              <m:r>
                                <a:rPr lang="en-US" sz="800" dirty="0"/>
                                <m:t>∑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sz="600" dirty="0"/>
                                  </m:ctrlPr>
                                </m:sSupPr>
                                <m:e>
                                  <m:r>
                                    <a:rPr lang="en-US" sz="600" i="1" dirty="0"/>
                                    <m:t>t</m:t>
                                  </m:r>
                                </m:e>
                                <m:sup>
                                  <m:r>
                                    <a:rPr lang="en-US" sz="600" dirty="0"/>
                                    <m:t>′</m:t>
                                  </m:r>
                                </m:sup>
                              </m:sSup>
                              <m:r>
                                <a:rPr lang="en-US" sz="800" dirty="0"/>
                                <m:t>=</m:t>
                              </m:r>
                              <m:r>
                                <a:rPr lang="en-US" sz="800" dirty="0"/>
                                <m:t>1</m:t>
                              </m:r>
                            </m:sub>
                            <m:sup>
                              <m:r>
                                <a:rPr lang="en-US" sz="800" i="1" dirty="0"/>
                                <m:t>W</m:t>
                              </m:r>
                            </m:sup>
                          </m:sSubSup>
                          <m:r>
                            <a:rPr lang="en-US" sz="1100" i="1" dirty="0"/>
                            <m:t>exp</m:t>
                          </m:r>
                          <m:r>
                            <a:rPr lang="en-US" sz="1100" dirty="0"/>
                            <m:t>⁡</m:t>
                          </m:r>
                          <m:r>
                            <a:rPr lang="en-US" sz="1100" dirty="0"/>
                            <m:t>(</m:t>
                          </m:r>
                          <m:sSub>
                            <m:sSubPr>
                              <m:ctrlPr>
                                <a:rPr lang="en-US" sz="800" dirty="0"/>
                              </m:ctrlPr>
                            </m:sSubPr>
                            <m:e>
                              <m:r>
                                <a:rPr lang="en-US" sz="800" i="1" dirty="0"/>
                                <m:t>K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sz="600" dirty="0"/>
                                  </m:ctrlPr>
                                </m:sSupPr>
                                <m:e>
                                  <m:r>
                                    <a:rPr lang="en-US" sz="600" i="1" dirty="0"/>
                                    <m:t>t</m:t>
                                  </m:r>
                                </m:e>
                                <m:sup>
                                  <m:r>
                                    <a:rPr lang="en-US" sz="600" dirty="0"/>
                                    <m:t>′</m:t>
                                  </m:r>
                                </m:sup>
                              </m:sSup>
                            </m:sub>
                          </m:sSub>
                          <m:r>
                            <a:rPr lang="en-US" sz="1100" dirty="0"/>
                            <m:t>+</m:t>
                          </m:r>
                          <m:sSub>
                            <m:sSubPr>
                              <m:ctrlPr>
                                <a:rPr lang="en-US" sz="800" dirty="0"/>
                              </m:ctrlPr>
                            </m:sSubPr>
                            <m:e>
                              <m:r>
                                <a:rPr lang="en-US" sz="800" i="1" dirty="0"/>
                                <m:t>w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sz="600" dirty="0"/>
                                  </m:ctrlPr>
                                </m:sSupPr>
                                <m:e>
                                  <m:r>
                                    <a:rPr lang="en-US" sz="600" i="1" dirty="0"/>
                                    <m:t>t</m:t>
                                  </m:r>
                                </m:e>
                                <m:sup>
                                  <m:r>
                                    <a:rPr lang="en-US" sz="600" dirty="0"/>
                                    <m:t>′</m:t>
                                  </m:r>
                                </m:sup>
                              </m:sSup>
                            </m:sub>
                          </m:sSub>
                          <m:r>
                            <a:rPr lang="en-US" sz="1100" dirty="0"/>
                            <m:t>)</m:t>
                          </m:r>
                          <m:r>
                            <a:rPr lang="en-US" sz="1100" dirty="0"/>
                            <m:t>⊙</m:t>
                          </m:r>
                          <m:sSub>
                            <m:sSubPr>
                              <m:ctrlPr>
                                <a:rPr lang="en-US" sz="800" dirty="0"/>
                              </m:ctrlPr>
                            </m:sSubPr>
                            <m:e>
                              <m:r>
                                <a:rPr lang="en-US" sz="800" i="1" dirty="0"/>
                                <m:t>V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sz="600" dirty="0"/>
                                  </m:ctrlPr>
                                </m:sSupPr>
                                <m:e>
                                  <m:r>
                                    <a:rPr lang="en-US" sz="600" i="1" dirty="0"/>
                                    <m:t>t</m:t>
                                  </m:r>
                                </m:e>
                                <m:sup>
                                  <m:r>
                                    <a:rPr lang="en-US" sz="600" dirty="0"/>
                                    <m:t>′</m:t>
                                  </m:r>
                                </m:sup>
                              </m:sSup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n-US" sz="800" dirty="0"/>
                              </m:ctrlPr>
                            </m:sSubSupPr>
                            <m:e>
                              <m:r>
                                <a:rPr lang="en-US" sz="800" dirty="0"/>
                                <m:t>∑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sz="600" dirty="0"/>
                                  </m:ctrlPr>
                                </m:sSupPr>
                                <m:e>
                                  <m:r>
                                    <a:rPr lang="en-US" sz="600" i="1" dirty="0"/>
                                    <m:t>t</m:t>
                                  </m:r>
                                </m:e>
                                <m:sup>
                                  <m:r>
                                    <a:rPr lang="en-US" sz="600" dirty="0"/>
                                    <m:t>′</m:t>
                                  </m:r>
                                </m:sup>
                              </m:sSup>
                              <m:r>
                                <a:rPr lang="en-US" sz="800" dirty="0"/>
                                <m:t>=</m:t>
                              </m:r>
                              <m:r>
                                <a:rPr lang="en-US" sz="800" dirty="0"/>
                                <m:t>1</m:t>
                              </m:r>
                            </m:sub>
                            <m:sup>
                              <m:r>
                                <a:rPr lang="en-US" sz="800" i="1" dirty="0"/>
                                <m:t>W</m:t>
                              </m:r>
                            </m:sup>
                          </m:sSubSup>
                          <m:r>
                            <a:rPr lang="en-US" sz="1100" i="1" dirty="0"/>
                            <m:t>exp</m:t>
                          </m:r>
                          <m:r>
                            <a:rPr lang="en-US" sz="1100" dirty="0"/>
                            <m:t>⁡</m:t>
                          </m:r>
                          <m:r>
                            <a:rPr lang="en-US" sz="1100" dirty="0"/>
                            <m:t>(</m:t>
                          </m:r>
                          <m:sSub>
                            <m:sSubPr>
                              <m:ctrlPr>
                                <a:rPr lang="en-US" sz="800" dirty="0"/>
                              </m:ctrlPr>
                            </m:sSubPr>
                            <m:e>
                              <m:r>
                                <a:rPr lang="en-US" sz="800" i="1" dirty="0"/>
                                <m:t>K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sz="600" dirty="0"/>
                                  </m:ctrlPr>
                                </m:sSupPr>
                                <m:e>
                                  <m:r>
                                    <a:rPr lang="en-US" sz="600" i="1" dirty="0"/>
                                    <m:t>t</m:t>
                                  </m:r>
                                </m:e>
                                <m:sup>
                                  <m:r>
                                    <a:rPr lang="en-US" sz="600" dirty="0"/>
                                    <m:t>′</m:t>
                                  </m:r>
                                </m:sup>
                              </m:sSup>
                            </m:sub>
                          </m:sSub>
                          <m:r>
                            <a:rPr lang="en-US" sz="1100" dirty="0"/>
                            <m:t>+</m:t>
                          </m:r>
                          <m:sSub>
                            <m:sSubPr>
                              <m:ctrlPr>
                                <a:rPr lang="en-US" sz="800" dirty="0"/>
                              </m:ctrlPr>
                            </m:sSubPr>
                            <m:e>
                              <m:r>
                                <a:rPr lang="en-US" sz="800" i="1" dirty="0"/>
                                <m:t>w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sz="600" dirty="0"/>
                                  </m:ctrlPr>
                                </m:sSupPr>
                                <m:e>
                                  <m:r>
                                    <a:rPr lang="en-US" sz="600" i="1" dirty="0"/>
                                    <m:t>t</m:t>
                                  </m:r>
                                </m:e>
                                <m:sup>
                                  <m:r>
                                    <a:rPr lang="en-US" sz="600" dirty="0"/>
                                    <m:t>′</m:t>
                                  </m:r>
                                </m:sup>
                              </m:sSup>
                            </m:sub>
                          </m:sSub>
                          <m:r>
                            <a:rPr lang="en-US" sz="1100" dirty="0"/>
                            <m:t>)</m:t>
                          </m:r>
                        </m:den>
                      </m:f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4" name="Text 32"/>
              <p:cNvSpPr/>
              <p:nvPr/>
            </p:nvSpPr>
            <p:spPr>
              <a:xfrm>
                <a:off x="1016000" y="7175500"/>
                <a:ext cx="14224000" cy="508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sz="1600" dirty="0">
                    <a:solidFill>
                      <a:srgbClr val="000000"/>
                    </a:solidFill>
                    <a:latin typeface="微软雅黑" pitchFamily="34" charset="0"/>
                    <a:ea typeface="微软雅黑" pitchFamily="34" charset="-122"/>
                    <a:cs typeface="微软雅黑" pitchFamily="34" charset="-120"/>
                  </a:rPr>
                  <a:t>( Y_{\text{AFT}} = \sigma(Q) \odot \frac{\sum_{t'=1}^{W} \exp(K_{t'} + w_{t'}) \odot V_{t'}}{\sum_{t'=1}^{W} \exp(K_{t'} + w_{t'})} )</a:t>
                </a:r>
                <a:endParaRPr lang="en-US" sz="1600" dirty="0"/>
              </a:p>
            </p:txBody>
          </p:sp>
        </mc:Fallback>
      </mc:AlternateContent>
      <p:sp>
        <p:nvSpPr>
          <p:cNvPr id="35" name="Text 33"/>
          <p:cNvSpPr/>
          <p:nvPr/>
        </p:nvSpPr>
        <p:spPr>
          <a:xfrm>
            <a:off x="762000" y="8763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8B8C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École Centrale Lyon — Deep Learning Project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3970000" y="8763000"/>
            <a:ext cx="15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8B8C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/ 16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6B1C23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147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Introduction &amp; Problem </a:t>
            </a:r>
            <a:pPr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Model Architecture</a:t>
            </a:r>
            <a:pPr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03 Experimental Results 04 Analysis &amp; Conclusion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635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6B1C2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Implementation Details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206500"/>
            <a:ext cx="762000" cy="0"/>
          </a:xfrm>
          <a:prstGeom prst="straightConnector1">
            <a:avLst/>
          </a:prstGeom>
          <a:noFill/>
          <a:ln w="38100">
            <a:solidFill>
              <a:srgbClr val="B8860B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762000" y="14605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6B1C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Framework &amp; Environment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1879600"/>
            <a:ext cx="711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 3.9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+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PyTorch 2.x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NetworkX + OSMnx for road-network shortest-path computation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GPU: NVIDIA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L40S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(46 GB VRAM), Intel Xeon, 128 GB RAM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Typical training run: ~20 minutes (100 epochs, 67 zones)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382000" y="14605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6B1C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Repository Structure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82000" y="1879600"/>
          <a:ext cx="7112000" cy="1905000"/>
        </p:xfrm>
        <a:graphic>
          <a:graphicData uri="http://schemas.openxmlformats.org/drawingml/2006/table">
            <a:tbl>
              <a:tblPr/>
              <a:tblGrid>
                <a:gridCol w="2489200"/>
                <a:gridCol w="4622800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Directory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C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Purpose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C2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src/data/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Data loading, preprocessing, dataset classes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src/graphs/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Graph construction (distance, OD, sparsification)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src/models/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LPE-STGTN modules (AFT, GCRN, Fusion)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src/training/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Training loop, metrics, early stopping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762000" y="36830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6B1C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Implementation Decisions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62000" y="4165600"/>
            <a:ext cx="50800" cy="101600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2" name="Text 9"/>
          <p:cNvSpPr/>
          <p:nvPr/>
        </p:nvSpPr>
        <p:spPr>
          <a:xfrm>
            <a:off x="1016000" y="4165600"/>
            <a:ext cx="685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Graph Snapping: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Zone centroids snapped to nearest drivable OSM node, ensuring shortest-path distances reflect actual road-network distances.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382000" y="4165600"/>
            <a:ext cx="50800" cy="1016000"/>
          </a:xfrm>
          <a:prstGeom prst="rect">
            <a:avLst/>
          </a:prstGeom>
          <a:solidFill>
            <a:srgbClr val="B8860B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11"/>
              <p:cNvSpPr/>
              <p:nvPr/>
            </p:nvSpPr>
            <p:spPr>
              <a:xfrm>
                <a:off x="8636000" y="4165600"/>
                <a:ext cx="6858000" cy="1143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ct val="150000"/>
                  </a:lnSpc>
                </a:pPr>
                <a:r>
                  <a:rPr lang="en-US" sz="1600" b="1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Symmetric Normalization:</a:t>
                </a:r>
                <a:pPr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Both adjacency matrices use </a:t>
                </a:r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limUpp>
                        <m:limUppPr>
                          <m:ctrlPr>
                            <a:rPr lang="en-US" sz="1600" dirty="0"/>
                          </m:ctrlPr>
                        </m:limUppPr>
                        <m:e>
                          <m:r>
                            <a:rPr lang="en-US" sz="1600" i="1" dirty="0"/>
                            <m:t>A</m:t>
                          </m:r>
                        </m:e>
                        <m:lim>
                          <m:r>
                            <a:rPr lang="en-US" sz="1600" dirty="0"/>
                            <m:t>~</m:t>
                          </m:r>
                        </m:lim>
                      </m:limUpp>
                      <m:r>
                        <a:rPr lang="en-US" sz="1600" dirty="0"/>
                        <m:t>=</m:t>
                      </m:r>
                      <m:r>
                        <a:rPr lang="en-US" sz="1600" i="1" dirty="0"/>
                        <m:t>I</m:t>
                      </m:r>
                      <m:r>
                        <a:rPr lang="en-US" sz="1600" dirty="0"/>
                        <m:t>+</m:t>
                      </m:r>
                      <m:sSup>
                        <m:sSupPr>
                          <m:ctrlPr>
                            <a:rPr lang="en-US" sz="1100" dirty="0"/>
                          </m:ctrlPr>
                        </m:sSupPr>
                        <m:e>
                          <m:r>
                            <a:rPr lang="en-US" sz="1100" i="1" dirty="0"/>
                            <m:t>D</m:t>
                          </m:r>
                        </m:e>
                        <m:sup>
                          <m:r>
                            <a:rPr lang="en-US" sz="1100" dirty="0"/>
                            <m:t>−</m:t>
                          </m:r>
                          <m:r>
                            <a:rPr lang="en-US" sz="1100" dirty="0"/>
                            <m:t>1</m:t>
                          </m:r>
                          <m:r>
                            <a:rPr lang="en-US" sz="1100" dirty="0"/>
                            <m:t>/</m:t>
                          </m:r>
                          <m:r>
                            <a:rPr lang="en-US" sz="1100" dirty="0"/>
                            <m:t>2</m:t>
                          </m:r>
                        </m:sup>
                      </m:sSup>
                      <m:r>
                        <a:rPr lang="en-US" sz="1600" i="1" dirty="0"/>
                        <m:t>A</m:t>
                      </m:r>
                      <m:sSup>
                        <m:sSupPr>
                          <m:ctrlPr>
                            <a:rPr lang="en-US" sz="1100" dirty="0"/>
                          </m:ctrlPr>
                        </m:sSupPr>
                        <m:e>
                          <m:r>
                            <a:rPr lang="en-US" sz="1100" i="1" dirty="0"/>
                            <m:t>D</m:t>
                          </m:r>
                        </m:e>
                        <m:sup>
                          <m:r>
                            <a:rPr lang="en-US" sz="1100" dirty="0"/>
                            <m:t>−</m:t>
                          </m:r>
                          <m:r>
                            <a:rPr lang="en-US" sz="1100" dirty="0"/>
                            <m:t>1</m:t>
                          </m:r>
                          <m:r>
                            <a:rPr lang="en-US" sz="1100" dirty="0"/>
                            <m:t>/</m:t>
                          </m:r>
                          <m:r>
                            <a:rPr lang="en-US" sz="1100" dirty="0"/>
                            <m:t>2</m:t>
                          </m:r>
                        </m:sup>
                      </m:sSup>
                    </m:oMath>
                  </m:oMathPara>
                </a14:m>
                <a:pPr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for stable spectral properties.</a:t>
                </a:r>
                <a:endParaRPr lang="en-US" sz="1600" dirty="0"/>
              </a:p>
            </p:txBody>
          </p:sp>
        </mc:Choice>
        <mc:Fallback xmlns="">
          <p:sp>
            <p:nvSpPr>
              <p:cNvPr id="14" name="Text 11"/>
              <p:cNvSpPr/>
              <p:nvPr/>
            </p:nvSpPr>
            <p:spPr>
              <a:xfrm>
                <a:off x="8636000" y="4165600"/>
                <a:ext cx="6858000" cy="1143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ct val="150000"/>
                  </a:lnSpc>
                </a:pPr>
                <a:r>
                  <a:rPr lang="en-US" sz="1600" b="1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Symmetric Normalization:</a:t>
                </a:r>
                <a:pPr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Both adjacency matrices use </a:t>
                </a:r>
                <a:pPr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000000"/>
                    </a:solidFill>
                    <a:latin typeface="微软雅黑" pitchFamily="34" charset="0"/>
                    <a:ea typeface="微软雅黑" pitchFamily="34" charset="-122"/>
                    <a:cs typeface="微软雅黑" pitchFamily="34" charset="-120"/>
                  </a:rPr>
                  <a:t>( \tilde{A} = I + D^{-1/2}AD^{-1/2} )</a:t>
                </a:r>
                <a:pPr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1A1A2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for stable spectral properties.</a:t>
                </a:r>
                <a:endParaRPr lang="en-US" sz="1600" dirty="0"/>
              </a:p>
            </p:txBody>
          </p:sp>
        </mc:Fallback>
      </mc:AlternateContent>
      <p:sp>
        <p:nvSpPr>
          <p:cNvPr id="15" name="Shape 12"/>
          <p:cNvSpPr/>
          <p:nvPr/>
        </p:nvSpPr>
        <p:spPr>
          <a:xfrm>
            <a:off x="762000" y="5384800"/>
            <a:ext cx="50800" cy="101600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6" name="Text 13"/>
          <p:cNvSpPr/>
          <p:nvPr/>
        </p:nvSpPr>
        <p:spPr>
          <a:xfrm>
            <a:off x="1016000" y="5384800"/>
            <a:ext cx="685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MAPE Zero-Masking: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Zones with demand &lt; 1 trip excluded from MAPE to prevent explosive relative errors during low-demand periods.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382000" y="5384800"/>
            <a:ext cx="50800" cy="101600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8" name="Text 15"/>
          <p:cNvSpPr/>
          <p:nvPr/>
        </p:nvSpPr>
        <p:spPr>
          <a:xfrm>
            <a:off x="8636000" y="5384800"/>
            <a:ext cx="685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Gradient Clipping Removed: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Initially applied (max norm 5.0), but ablation showed removal marginally improved MAPE.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62000" y="66548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6B1C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Paper Ambiguities &amp; Our Decisions</a:t>
            </a:r>
            <a:endParaRPr lang="en-US" sz="16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7112000"/>
          <a:ext cx="14732000" cy="1397000"/>
        </p:xfrm>
        <a:graphic>
          <a:graphicData uri="http://schemas.openxmlformats.org/drawingml/2006/table">
            <a:tbl>
              <a:tblPr/>
              <a:tblGrid>
                <a:gridCol w="3683000"/>
                <a:gridCol w="5156200"/>
                <a:gridCol w="5892800"/>
              </a:tblGrid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Ambiguity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C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Issue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C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Our Decision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C23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Zone count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68 vs 69 zones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Zone 104 disconnected → used 67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Distance kernel σ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Not specified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σ = std(d_ij) from distance matrix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OD sparsification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Not specified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Swept ε ∈ {0.00, 0.01, 0.05, 0.10}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 17"/>
          <p:cNvSpPr/>
          <p:nvPr/>
        </p:nvSpPr>
        <p:spPr>
          <a:xfrm>
            <a:off x="762000" y="8763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8B8C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École Centrale Lyon — Deep Learning Project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13970000" y="8699500"/>
            <a:ext cx="15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8B8C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 / 16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2yg3rinidskmu/mnt/agents/output/lpe-stgtn-presentation/images/5_6_775_Aerial_View_New_York_City_Night.png">    </p:cNvPr>
          <p:cNvPicPr>
            <a:picLocks noChangeAspect="1"/>
          </p:cNvPicPr>
          <p:nvPr/>
        </p:nvPicPr>
        <p:blipFill>
          <a:blip r:embed="rId1"/>
          <a:srcRect l="0" r="0" t="7865" b="786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A1A2E">
                  <a:alpha val="53000"/>
                </a:srgbClr>
              </a:gs>
              <a:gs pos="50000">
                <a:srgbClr val="1A1A2E">
                  <a:alpha val="80000"/>
                </a:srgbClr>
              </a:gs>
              <a:gs pos="100000">
                <a:srgbClr val="1A1A2E">
                  <a:alpha val="94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286000"/>
            <a:ext cx="3810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0" b="1" dirty="0">
                <a:solidFill>
                  <a:srgbClr val="FFFFFF">
                    <a:alpha val="9412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016000" y="4318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spc="2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EXPERIMENTAL RESULTS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016000" y="5207000"/>
            <a:ext cx="1270000" cy="0"/>
          </a:xfrm>
          <a:prstGeom prst="straightConnector1">
            <a:avLst/>
          </a:prstGeom>
          <a:noFill/>
          <a:ln w="38100">
            <a:solidFill>
              <a:srgbClr val="B8860B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1016000" y="5461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Dataset, setup, and performance comparison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6B1C23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147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Introduction &amp; Problem 02 Model Architecture </a:t>
            </a:r>
            <a:pPr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Experimental Results</a:t>
            </a:r>
            <a:pPr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04 Analysis &amp; Conclusion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635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6B1C2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Experimental Setup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206500"/>
            <a:ext cx="762000" cy="0"/>
          </a:xfrm>
          <a:prstGeom prst="straightConnector1">
            <a:avLst/>
          </a:prstGeom>
          <a:noFill/>
          <a:ln w="38100">
            <a:solidFill>
              <a:srgbClr val="B8860B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762000" y="1460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6B1C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&amp; Preprocessing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1905000"/>
            <a:ext cx="711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NYC Yellow Taxi 2018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12 monthly Parquet files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86,442,571 trips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after filtering to Manhattan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67 zones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(after removing disconnected Zone 104)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15-minute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resolution → 96 timesteps/day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Z-score normalization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using training-set statistics only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Two graphs: Distance Graph (Gaussian kernel) + OD Flow Graph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382000" y="1460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6B1C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Split (Chronological)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82000" y="1905000"/>
          <a:ext cx="7112000" cy="1651000"/>
        </p:xfrm>
        <a:graphic>
          <a:graphicData uri="http://schemas.openxmlformats.org/drawingml/2006/table">
            <a:tbl>
              <a:tblPr/>
              <a:tblGrid>
                <a:gridCol w="1778000"/>
                <a:gridCol w="1422400"/>
                <a:gridCol w="1778000"/>
                <a:gridCol w="2133600"/>
              </a:tblGrid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Split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C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Ratio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C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Steps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C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Samples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C23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Training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60%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21,024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21,001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Validation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20%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7,008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6,985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Test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20%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7,008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6,985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762000" y="4572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6B1C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Training Configuration</a:t>
            </a:r>
            <a:endParaRPr lang="en-US" sz="16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080000"/>
          <a:ext cx="14732000" cy="3048000"/>
        </p:xfrm>
        <a:graphic>
          <a:graphicData uri="http://schemas.openxmlformats.org/drawingml/2006/table">
            <a:tbl>
              <a:tblPr/>
              <a:tblGrid>
                <a:gridCol w="4419600"/>
                <a:gridCol w="5156200"/>
                <a:gridCol w="5156200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Parameter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C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Value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C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Notes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C2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Optimizer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Adam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Learning rate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 × 10⁻⁴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Paper default: 10⁻³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Batch size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Paper default: 64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Hidden dimension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128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Paper default: 64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Dropout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0.15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Max epochs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Early stopping patience: 15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LR scheduler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ReduceLROnPlateau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Factor 0.5, patience 3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762000" y="8763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8B8C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École Centrale Lyon — Deep Learning Project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3970000" y="8763000"/>
            <a:ext cx="15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8B8C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 / 16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6B1C23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147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Introduction &amp; Problem 02 Model Architecture </a:t>
            </a:r>
            <a:pPr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Experimental Results</a:t>
            </a:r>
            <a:pPr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04 Analysis &amp; Conclusion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635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6B1C2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Baselines &amp; Reproduction Progression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206500"/>
            <a:ext cx="762000" cy="0"/>
          </a:xfrm>
          <a:prstGeom prst="straightConnector1">
            <a:avLst/>
          </a:prstGeom>
          <a:noFill/>
          <a:ln w="38100">
            <a:solidFill>
              <a:srgbClr val="B8860B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762000" y="14605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6B1C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Baseline Results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879600"/>
          <a:ext cx="6858000" cy="1397000"/>
        </p:xfrm>
        <a:graphic>
          <a:graphicData uri="http://schemas.openxmlformats.org/drawingml/2006/table">
            <a:tbl>
              <a:tblPr/>
              <a:tblGrid>
                <a:gridCol w="2057400"/>
                <a:gridCol w="1577340"/>
                <a:gridCol w="1577340"/>
                <a:gridCol w="1645920"/>
              </a:tblGrid>
              <a:tr h="461394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Model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C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C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RMSE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C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MAPE (%)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C23"/>
                    </a:solidFill>
                  </a:tcPr>
                </a:tc>
              </a:tr>
              <a:tr h="46139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Persistence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12.56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23.41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66.07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4211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LSTM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6.65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12.29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75.64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382000" y="14605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6B1C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Reproduction Phases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382000" y="1879600"/>
            <a:ext cx="711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1: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Paper-aligned (68 zones, h=64) → MAPE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35.66%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1+HP: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Hyperparameter tuning → MAPE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33.98%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2: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Topological corrections → MAPE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32.41%</a:t>
            </a:r>
            <a:endParaRPr lang="en-US" sz="16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762000" y="3683000"/>
          <a:ext cx="14732000" cy="4318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7"/>
          <p:cNvSpPr/>
          <p:nvPr/>
        </p:nvSpPr>
        <p:spPr>
          <a:xfrm>
            <a:off x="762000" y="8763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8B8C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École Centrale Lyon — Deep Learning Project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3970000" y="8763000"/>
            <a:ext cx="15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8B8C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 / 16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6B1C23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147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Introduction &amp; Problem 02 Model Architecture </a:t>
            </a:r>
            <a:pPr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Experimental Results</a:t>
            </a:r>
            <a:pPr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04 Analysis &amp; Conclusion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635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6B1C2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Ablation Studies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206500"/>
            <a:ext cx="762000" cy="0"/>
          </a:xfrm>
          <a:prstGeom prst="straightConnector1">
            <a:avLst/>
          </a:prstGeom>
          <a:noFill/>
          <a:ln w="38100">
            <a:solidFill>
              <a:srgbClr val="B8860B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762000" y="14605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6B1C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Capacity-Regularization Sweep (67 zones, ε=0.05)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879600"/>
          <a:ext cx="7112000" cy="1397000"/>
        </p:xfrm>
        <a:graphic>
          <a:graphicData uri="http://schemas.openxmlformats.org/drawingml/2006/table">
            <a:tbl>
              <a:tblPr/>
              <a:tblGrid>
                <a:gridCol w="2133600"/>
                <a:gridCol w="1635760"/>
                <a:gridCol w="1635760"/>
                <a:gridCol w="1706880"/>
              </a:tblGrid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Config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C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Test MAE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C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Test RMSE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C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Test MAPE (%)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C23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h=64, d=0.20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7.16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12.19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33.19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h=128, d=0.10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7.18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12.13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32.61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h=128, d=0.15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7.12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12.09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32.41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382000" y="14605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6B1C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ε-Sparsification Sensitivity</a:t>
            </a:r>
            <a:endParaRPr lang="en-US" sz="16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82000" y="1879600"/>
          <a:ext cx="7112000" cy="1397000"/>
        </p:xfrm>
        <a:graphic>
          <a:graphicData uri="http://schemas.openxmlformats.org/drawingml/2006/table">
            <a:tbl>
              <a:tblPr/>
              <a:tblGrid>
                <a:gridCol w="1778000"/>
                <a:gridCol w="1778000"/>
                <a:gridCol w="1778000"/>
                <a:gridCol w="1778000"/>
              </a:tblGrid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ε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C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Test MAE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C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Test RMSE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C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Test MAPE (%)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C23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0.00 (dense)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7.13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12.06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32.91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0.01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7.13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12.08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33.08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0.05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7.12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12.09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32.41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62000" y="35560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6B1C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Weather Feature Integration (68 zones)</a:t>
            </a:r>
            <a:endParaRPr lang="en-US" sz="1600" dirty="0"/>
          </a:p>
        </p:txBody>
      </p:sp>
      <p:graphicFrame>
        <p:nvGraphicFramePr>
          <p:cNvPr id="3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3975100"/>
          <a:ext cx="7112000" cy="1397000"/>
        </p:xfrm>
        <a:graphic>
          <a:graphicData uri="http://schemas.openxmlformats.org/drawingml/2006/table">
            <a:tbl>
              <a:tblPr/>
              <a:tblGrid>
                <a:gridCol w="2489200"/>
                <a:gridCol w="1564640"/>
                <a:gridCol w="1564640"/>
                <a:gridCol w="1493520"/>
              </a:tblGrid>
              <a:tr h="461394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Config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C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Test MAE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C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Test RMSE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C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Test MAPE (%)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C23"/>
                    </a:solidFill>
                  </a:tcPr>
                </a:tc>
              </a:tr>
              <a:tr h="46139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Best no-weather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6.78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11.48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33.98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4211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With weather (h=64)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7.16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12.32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34.86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8382000" y="35560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6B1C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Chronological Split Sensitivity</a:t>
            </a:r>
            <a:endParaRPr lang="en-US" sz="1600" dirty="0"/>
          </a:p>
        </p:txBody>
      </p:sp>
      <p:graphicFrame>
        <p:nvGraphicFramePr>
          <p:cNvPr id="4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82000" y="3975100"/>
          <a:ext cx="7112000" cy="1397000"/>
        </p:xfrm>
        <a:graphic>
          <a:graphicData uri="http://schemas.openxmlformats.org/drawingml/2006/table">
            <a:tbl>
              <a:tblPr/>
              <a:tblGrid>
                <a:gridCol w="2133600"/>
                <a:gridCol w="1635760"/>
                <a:gridCol w="1635760"/>
                <a:gridCol w="1706880"/>
              </a:tblGrid>
              <a:tr h="461394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Split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C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Test MAE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C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Test RMSE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C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Test MAPE (%)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C23"/>
                    </a:solidFill>
                  </a:tcPr>
                </a:tc>
              </a:tr>
              <a:tr h="46139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60 / 20 / 20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6.78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11.48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33.98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4211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20 / 0 / 80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7.41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12.54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34.68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</a:tr>
            </a:tbl>
          </a:graphicData>
        </a:graphic>
      </p:graphicFrame>
      <p:sp>
        <p:nvSpPr>
          <p:cNvPr id="14" name="Shape 8"/>
          <p:cNvSpPr/>
          <p:nvPr/>
        </p:nvSpPr>
        <p:spPr>
          <a:xfrm>
            <a:off x="762000" y="5715000"/>
            <a:ext cx="14732000" cy="2540000"/>
          </a:xfrm>
          <a:prstGeom prst="roundRect">
            <a:avLst>
              <a:gd name="adj" fmla="val 4000"/>
            </a:avLst>
          </a:prstGeom>
          <a:solidFill>
            <a:srgbClr val="F0EEEB"/>
          </a:solidFill>
          <a:ln/>
        </p:spPr>
      </p:sp>
      <p:sp>
        <p:nvSpPr>
          <p:cNvPr id="15" name="Shape 9"/>
          <p:cNvSpPr/>
          <p:nvPr/>
        </p:nvSpPr>
        <p:spPr>
          <a:xfrm>
            <a:off x="762000" y="5715000"/>
            <a:ext cx="50800" cy="254000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6" name="Text 10"/>
          <p:cNvSpPr/>
          <p:nvPr/>
        </p:nvSpPr>
        <p:spPr>
          <a:xfrm>
            <a:off x="1016000" y="5842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6B1C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Insights from Ablations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1016000" y="6286500"/>
            <a:ext cx="14224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Optimal balance: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h=128, d=0.15 achieves best MAPE (32.41%). Higher dropout hurts; lower capacity underfits.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Sparsification optimum: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U-shaped MAPE curve — ε=0.05 prunes ~75% of edges while preserving meaningful connections.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Weather degrades: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Open-Meteo features consistently worsen metrics. Cyclic embeddings already capture dominant variance.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volume matters: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Reducing training from 60% to 20% degrades MAPE by 1.7+ pp.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762000" y="8763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8B8C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École Centrale Lyon — Deep Learning Project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3970000" y="8763000"/>
            <a:ext cx="15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8B8C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 / 16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6B1C23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147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Introduction &amp; Problem 02 Model Architecture </a:t>
            </a:r>
            <a:pPr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Experimental Results</a:t>
            </a:r>
            <a:pPr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04 Analysis &amp; Conclusion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635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6B1C2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Final Performance Comparison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206500"/>
            <a:ext cx="762000" cy="0"/>
          </a:xfrm>
          <a:prstGeom prst="straightConnector1">
            <a:avLst/>
          </a:prstGeom>
          <a:noFill/>
          <a:ln w="38100">
            <a:solidFill>
              <a:srgbClr val="B8860B"/>
            </a:solidFill>
            <a:prstDash val="solid"/>
            <a:headEnd type="none"/>
            <a:tailEnd type="none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24000"/>
          <a:ext cx="14732000" cy="3556000"/>
        </p:xfrm>
        <a:graphic>
          <a:graphicData uri="http://schemas.openxmlformats.org/drawingml/2006/table">
            <a:tbl>
              <a:tblPr/>
              <a:tblGrid>
                <a:gridCol w="4124960"/>
                <a:gridCol w="2651760"/>
                <a:gridCol w="2651760"/>
                <a:gridCol w="2651760"/>
                <a:gridCol w="2651760"/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Model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C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C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RMSE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C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MAPE (%)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C2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Gap to Paper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C23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Persistence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12.56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23.41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66.07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LSTM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6.65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12.29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75.64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LPE-STGTN Phase 1 (h=64)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7.05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11.93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35.66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3.84 pp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LPE-STGTN Phase 1 (best HP)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6.78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11.48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33.98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2.16 pp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LPE-STGTN Final (67z, opt)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7.12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12.09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32.41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0.59 pp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LPE-STGTN (Original Paper)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5.66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10.40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31.82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Target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62000" y="5461000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6B1C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Gap Closure Summary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2000" y="5969000"/>
            <a:ext cx="14732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Our final optimized model reduces the MAPE gap to the paper from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3.84 pp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(Phase 1 baseline) to just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0.59 pp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demonstrating that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topological corrections and targeted sparsification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are more impactful than raw architectural changes.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single largest improvement did not come from increasing hidden dimensions or adding attention heads, but from 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removing a single geographically disconnected zone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(Zone 104) and applying ε-threshold sparsification.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62000" y="8763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8B8C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École Centrale Lyon — Deep Learning Project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970000" y="8763000"/>
            <a:ext cx="15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8B8C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 / 16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2yg3rinidskmu/mnt/agents/output/lpe-stgtn-presentation/images/2_Abstract_Ai_Neural_Network_Concep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A1A2E">
                  <a:alpha val="53000"/>
                </a:srgbClr>
              </a:gs>
              <a:gs pos="50000">
                <a:srgbClr val="1A1A2E">
                  <a:alpha val="80000"/>
                </a:srgbClr>
              </a:gs>
              <a:gs pos="100000">
                <a:srgbClr val="1A1A2E">
                  <a:alpha val="94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286000"/>
            <a:ext cx="3810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0" b="1" dirty="0">
                <a:solidFill>
                  <a:srgbClr val="FFFFFF">
                    <a:alpha val="9412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016000" y="4318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spc="2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ANALYSIS &amp; CONCLUSION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016000" y="5207000"/>
            <a:ext cx="1270000" cy="0"/>
          </a:xfrm>
          <a:prstGeom prst="straightConnector1">
            <a:avLst/>
          </a:prstGeom>
          <a:noFill/>
          <a:ln w="38100">
            <a:solidFill>
              <a:srgbClr val="B8860B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1016000" y="5461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findings, lessons learned, and future directions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6B1C23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147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Introduction &amp; Problem 02 Model Architecture </a:t>
            </a:r>
            <a:pPr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Experimental Results</a:t>
            </a:r>
            <a:pPr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04 Analysis &amp; Conclusion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635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6B1C2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Findings &amp; Analysis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206500"/>
            <a:ext cx="762000" cy="0"/>
          </a:xfrm>
          <a:prstGeom prst="straightConnector1">
            <a:avLst/>
          </a:prstGeom>
          <a:noFill/>
          <a:ln w="38100">
            <a:solidFill>
              <a:srgbClr val="B8860B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762000" y="14605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97000" y="1460500"/>
            <a:ext cx="50800" cy="177800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1651000" y="1460500"/>
            <a:ext cx="6731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quality dominates architecture.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largest MAPE improvement came not from hidden dimensions or attention heads, but from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removing one disconnected zone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(Zone 104) and applying ε-sparsification. A single anomalous node propagates gradient noise through the entire GNN pipeline.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890000" y="14605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525000" y="1460500"/>
            <a:ext cx="50800" cy="177800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1" name="Text 9"/>
          <p:cNvSpPr/>
          <p:nvPr/>
        </p:nvSpPr>
        <p:spPr>
          <a:xfrm>
            <a:off x="9779000" y="1460500"/>
            <a:ext cx="5715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Sparsification has a clear optimum.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ε-sweep reveals a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U-shaped error curve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At ε=0.00, attention wastes capacity on near-zero edges. At ε=0.10, mid-range neighbors are lost. Optimum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ε=0.05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prunes ~75% of edges while preserving signal.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32385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397000" y="3429000"/>
            <a:ext cx="50800" cy="146050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4" name="Text 12"/>
          <p:cNvSpPr/>
          <p:nvPr/>
        </p:nvSpPr>
        <p:spPr>
          <a:xfrm>
            <a:off x="1651000" y="3429000"/>
            <a:ext cx="6731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Weather features degrade generalization.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Open-Meteo features worsened metrics by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0.9–2.6 pp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Cyclic embeddings already encode seasonal patterns; weather adds noise.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890000" y="34290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525000" y="3429000"/>
            <a:ext cx="50800" cy="146050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7" name="Text 15"/>
          <p:cNvSpPr/>
          <p:nvPr/>
        </p:nvSpPr>
        <p:spPr>
          <a:xfrm>
            <a:off x="9779000" y="3429000"/>
            <a:ext cx="5715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Training data volume is critical.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Reducing training from 60% to 20% degrades MAPE by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1.7+ pp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Models need substantial historical coverage for robust patterns.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2000" y="5143500"/>
            <a:ext cx="762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6B1C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Remaining Gap Analysis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2000" y="5549900"/>
            <a:ext cx="1473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Residual gap of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0.59 pp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the paper's 31.82%. Three plausible sources: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Undisclosed preprocessing: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86,442,571 vs. 86,442,609 trips suggests minor filtering differences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Unspecified graph thresholds: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ε-sweep shows 0.5–1.0 pp sensitivity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Seed variance: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Single-seed vs. multi-seed averaging accounts for 0.3–0.5 pp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2000" y="7429500"/>
            <a:ext cx="762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6B1C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Hyperparameter Sensitivity Hierarchy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2000" y="7874000"/>
            <a:ext cx="1473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Graph topology (ε)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&gt;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Regularization (dropout)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&gt;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Capacity (hidden dim)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hierarchy is a key practical insight for deploying similar architectures.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62000" y="8763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8B8C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École Centrale Lyon — Deep Learning Project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970000" y="8763000"/>
            <a:ext cx="15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8B8C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 / 16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2yg3rinidskmu/mnt/agents/output/lpe-stgtn-presentation/images/7_510_Aerial_View_Over_Manhattan_Skyline.png">    </p:cNvPr>
          <p:cNvPicPr>
            <a:picLocks noChangeAspect="1"/>
          </p:cNvPicPr>
          <p:nvPr/>
        </p:nvPicPr>
        <p:blipFill>
          <a:blip r:embed="rId1"/>
          <a:srcRect l="0" r="0" t="7812" b="7812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A1A2E">
                  <a:alpha val="94000"/>
                </a:srgbClr>
              </a:gs>
              <a:gs pos="50000">
                <a:srgbClr val="1A1A2E">
                  <a:alpha val="80000"/>
                </a:srgbClr>
              </a:gs>
              <a:gs pos="100000">
                <a:srgbClr val="1A1A2E">
                  <a:alpha val="6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1270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spc="2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 &amp; FUTURE WORK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016000" y="2095500"/>
            <a:ext cx="1270000" cy="0"/>
          </a:xfrm>
          <a:prstGeom prst="straightConnector1">
            <a:avLst/>
          </a:prstGeom>
          <a:noFill/>
          <a:ln w="38100">
            <a:solidFill>
              <a:srgbClr val="B8860B"/>
            </a:solidFill>
            <a:prstDash val="solid"/>
            <a:headEnd type="none"/>
            <a:tailEnd type="none"/>
          </a:ln>
        </p:spPr>
      </p:sp>
      <p:sp>
        <p:nvSpPr>
          <p:cNvPr id="6" name="Text 3"/>
          <p:cNvSpPr/>
          <p:nvPr/>
        </p:nvSpPr>
        <p:spPr>
          <a:xfrm>
            <a:off x="1016000" y="23495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Summary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16000" y="2768600"/>
            <a:ext cx="7874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reimplementation of LPE-STGTN from 86M+ raw NYC taxi trips. Built a config-driven preprocessing pipeline with dual spatial graphs from real road-network data.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 systematic phases improved test MAPE from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35.66%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32.41%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closing the gap to the published benchmark (31.82%) to just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0.59 pp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16000" y="50800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Lessons Learned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16000" y="5588000"/>
            <a:ext cx="7874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Reproducibility is harder than expected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papers omit critical details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quality &gt; model complexity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one anomalous zone gave the biggest gain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Graph topology is a first-class hyperparameter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Config-driven pipelines are essential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managing 15+ experiments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GPU debugging is a real skill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memory leaks, deadlocks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398000" y="23495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398000" y="2768600"/>
            <a:ext cx="6096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Multi-city transfer learning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evaluate NYC-to-other-cities generalization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Dynamic temporal graphs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replace static annual OD with time-varying graphs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Event-aware embeddings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holiday calendars and real-time weather alerts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Scalable attention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hierarchical attention for all NYC boroughs (N≈265)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16000" y="78105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spc="3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16000" y="8445500"/>
            <a:ext cx="762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5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École Centrale Lyon — Deep Learning Project | April 2026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5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Alikatte, Hrishikesh Sidharth | Supervisors: H. Reddy, Z. Malikireddy, Z. Wu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LPE-STGTN: Reproduction &amp; Optimization</dc:title>
  <dc:subject>LPE-STGTN: Reproduction &amp; Optimization</dc:subject>
  <dc:creator>Kimi</dc:creator>
  <cp:lastModifiedBy>Kimi</cp:lastModifiedBy>
  <cp:revision>1</cp:revision>
  <dcterms:created xsi:type="dcterms:W3CDTF">2026-04-26T18:55:59Z</dcterms:created>
  <dcterms:modified xsi:type="dcterms:W3CDTF">2026-04-26T18:55:59Z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{"Label":"LPE-STGTN: Reproduction &amp; Optimization","ContentProducer":"001191110108MACG2KBH8F10000","ProduceID":"19dcb00c-9612-8ccf-8000-0000db99c69f","ReservedCode1":"","ContentPropagator":"001191110108MACG2KBH8F20000","PropagateID":"19dcb00c-9612-8ccf-8000-0000db99c69f","ReservedCode2":""}</vt:lpwstr>
  </property>
</Properties>
</file>